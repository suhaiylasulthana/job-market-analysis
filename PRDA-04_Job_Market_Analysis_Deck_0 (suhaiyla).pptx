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54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5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31F3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31F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3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Market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of U.S. Data Science Job Postings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2011680" cy="0"/>
          </a:xfrm>
          <a:prstGeom prst="line">
            <a:avLst/>
          </a:prstGeom>
          <a:noFill/>
          <a:ln w="31750">
            <a:solidFill>
              <a:srgbClr val="E3A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job postings   •   42 features   •   U.S. nationwide
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S Suhaiyla Sulthana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numbers from the analysis of 742 job postings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blurRad="1270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440180" y="3154680"/>
            <a:ext cx="64008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375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postings are in California — the single largest job market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blurRad="1270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42.2%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320540" y="3154680"/>
            <a:ext cx="64008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3375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postings are for the title “Data Scientist”, the most common role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blurRad="1270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52.8%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7200900" y="3154680"/>
            <a:ext cx="64008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375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postings require Python — the most in-demand skill overall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98280" y="192024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  <a:effectLst>
            <a:outerShdw blurRad="127000" dist="38100" dir="5400000" algn="bl" rotWithShape="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9828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10081260" y="3154680"/>
            <a:ext cx="640080" cy="0"/>
          </a:xfrm>
          <a:prstGeom prst="line">
            <a:avLst/>
          </a:prstGeom>
          <a:noFill/>
          <a:ln w="25400">
            <a:solidFill>
              <a:srgbClr val="E3A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3375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average salary for PhD-credited roles vs. no degree requirement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Methodology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66160" y="16916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job postings pulled from the project MySQL database (project_job_market_analysis.Market) via SQLAlchemy / pymysql.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26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566160" y="28346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columns spanning job identity, compensation, company profile, location, 16 binary skill flags, simplified job title, seniority, and degree requirement.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690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3977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566160" y="39776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value -1 (“missing”) handled per-column: median-imputed for Rating, recoded to “Not Disclosed” for categorical fields, left as NaN for Age/Founded.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1208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5120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566160" y="51206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(pandas, seaborn, matplotlib) for the EDA in this report; the same findings were rebuilt as an interactive four-page Power BI dashboard, shown later in this deck.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the Jobs? — Top States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California, Massachusetts, New York &amp; Virginia drive ~50% of postings</a:t>
            </a:r>
            <a:endParaRPr lang="en-US" sz="1400" dirty="0"/>
          </a:p>
        </p:txBody>
      </p:sp>
      <p:pic>
        <p:nvPicPr>
          <p:cNvPr id="4" name="Image 0" descr="/home/claude/charts/02_states_most_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8528"/>
            <a:ext cx="6949440" cy="4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California: 152 postings (20.5%) — by far the largest market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4 states = ~50% of all postings nationwide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(103) ranks 2nd, ahead of New York (72)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Driven by tech (CA), biotech/pharma (MA) &amp; federal/defense (VA)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It Pay Best? — Salary by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leads on average salary; Illinois and D.C. follow closely</a:t>
            </a:r>
            <a:endParaRPr lang="en-US" sz="1400" dirty="0"/>
          </a:p>
        </p:txBody>
      </p:sp>
      <p:pic>
        <p:nvPicPr>
          <p:cNvPr id="4" name="Image 0" descr="/home/claude/charts/04_states_avg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83664"/>
            <a:ext cx="7132320" cy="4279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210312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California: highest avg. salary at $123.5K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Illinois: $116.7K — punches above its job-count rank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D.C.: $110.2K, despite fewer postings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&amp; Ohio trail the top states on pay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Hiring Industries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&amp; Pharma leads — ahead of traditional IT Services</a:t>
            </a:r>
            <a:endParaRPr lang="en-US" sz="1400" dirty="0"/>
          </a:p>
        </p:txBody>
      </p:sp>
      <p:pic>
        <p:nvPicPr>
          <p:cNvPr id="4" name="Image 0" descr="/home/claude/charts/05_top_indus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8528"/>
            <a:ext cx="6949440" cy="4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&amp; Pharmaceuticals: 112 postings (15.1%) — #1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Carriers (63) and Computer H/W &amp; Software (59) follow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Services ranks only 4th (50 postings)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industries = 65% of all postings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Hiring? — Top Companies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343 distinct employers — hiring is broad, not concentrated</a:t>
            </a:r>
            <a:endParaRPr lang="en-US" sz="1400" dirty="0"/>
          </a:p>
        </p:txBody>
      </p:sp>
      <p:pic>
        <p:nvPicPr>
          <p:cNvPr id="4" name="Image 0" descr="/home/claude/charts/06_top_compan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38528"/>
            <a:ext cx="6949440" cy="4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Takeda Pharmaceuticals, MassMutual &amp; Reynolds American tie at 14 postings each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343 distinct companies in total — most post only 1-2 roles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of postings come from privately-held companies, 26% from public companies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Titles: Volume vs. Pay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dominates volume — but Director &amp; ML Engineer pay more</a:t>
            </a:r>
            <a:endParaRPr lang="en-US" sz="1400" dirty="0"/>
          </a:p>
        </p:txBody>
      </p:sp>
      <p:pic>
        <p:nvPicPr>
          <p:cNvPr id="4" name="Image 0" descr="/home/claude/charts/07_job_tit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5486400" cy="32918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286000"/>
          <a:ext cx="4846320" cy="3200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Title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Salary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$130.8K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Engineer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$126.4K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Scientist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$118.3K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Engineer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$105.4K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Scientist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$88.1K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$66.1K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Salary by Job Title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75120" y="5715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 and ML Engineer roles are rare (5 and 22 postings) but command the highest pay per posting.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5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in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Excel &amp; SQL form the baseline toolkit for every data role</a:t>
            </a:r>
            <a:endParaRPr lang="en-US" sz="1400" dirty="0"/>
          </a:p>
        </p:txBody>
      </p:sp>
      <p:pic>
        <p:nvPicPr>
          <p:cNvPr id="4" name="Image 0" descr="/home/claude/charts/09b_overall_skill_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29968"/>
            <a:ext cx="6949440" cy="4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(53%), Excel (52%), SQL (51%) — required in roughly half of all postings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(24%) &amp; Spark (23%) — the cloud/big-data second tier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(20%) leads BI/visualization tools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Deep-learning frameworks (Keras, PyTorch) remain niche (&lt;6%)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Required, by Job Title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title has a distinct skill fingerprint</a:t>
            </a:r>
            <a:endParaRPr lang="en-US" sz="1400" dirty="0"/>
          </a:p>
        </p:txBody>
      </p:sp>
      <p:pic>
        <p:nvPicPr>
          <p:cNvPr id="4" name="Image 0" descr="/home/claude/charts/09_skills_by_job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697" y="1645920"/>
            <a:ext cx="9170126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Pays 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PhD-credited postings pay 22% more than postings with no degree requirement</a:t>
            </a:r>
            <a:endParaRPr lang="en-US" sz="1400" dirty="0"/>
          </a:p>
        </p:txBody>
      </p:sp>
      <p:pic>
        <p:nvPicPr>
          <p:cNvPr id="4" name="Image 0" descr="/home/claude/charts/10_salary_by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51660"/>
            <a:ext cx="6035040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228600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Requirement: $94.7K avg. (51.6% of postings)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Master's Degree: $105.6K avg. (+12%) (34.0% of postings)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PhD: $116.0K avg. (+22% vs. none) (14.4% of postings)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holds across the full salary distribution, not just averages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Seniority moves salary; company rating &amp; age barely do</a:t>
            </a:r>
            <a:endParaRPr lang="en-US" sz="1400" dirty="0"/>
          </a:p>
        </p:txBody>
      </p:sp>
      <p:pic>
        <p:nvPicPr>
          <p:cNvPr id="4" name="Image 0" descr="/home/claude/charts/11a_seniority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5120640" cy="3657600"/>
          </a:xfrm>
          <a:prstGeom prst="rect">
            <a:avLst/>
          </a:prstGeom>
        </p:spPr>
      </p:pic>
      <p:pic>
        <p:nvPicPr>
          <p:cNvPr id="5" name="Image 1" descr="/home/claude/charts/11d_rating_distribution_and_vs_sal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045655"/>
            <a:ext cx="6035040" cy="23211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6263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Senior-flagged titles earn $121.7K vs. $93.1K for unflagged titles (+31%)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9360" y="6263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→ salary correlation: only r = 0.13  |  Age → salary: r = 0.03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For Job Seekers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167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baseline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91640" y="26243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SQL and Excel appear in ~half of all postings regardless of title — build these first.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19659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402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2167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 deliberately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52360" y="26243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 needs PyTorch/TensorFlow; Data Engineer needs Spark/AWS/Hadoop — the two are almost opposite skillsets.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42062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805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4407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carry weight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91640" y="486460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Master's or PhD correlates with a real 10-22% salary premium, concentrated in Data Scientist &amp; research titles.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92240" y="42062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4805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4407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where the jobs are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452360" y="486460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CA, MA, NY, VA &amp; IL host ~60% of postings — geographic flexibility meaningfully expands opportunity.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— For Employers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2167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to market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691640" y="26243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offers below $90K-$146K (avg min-max) are likely to underperform, especially in CA, IL &amp; D.C.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92240" y="196596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402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2167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isn't a pay lever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52360" y="262432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and company age barely correlate with salary — smaller/newer firms can compete on scope &amp; culture, not just cash.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42062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805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4407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mid-size gap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91640" y="486460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501-5,000 employee companies currently pay below both larger and smaller peers ($91K-$98K avg) — a likely friction point in hiring.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92240" y="4206240"/>
            <a:ext cx="539496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4805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52360" y="4407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BI skills for Analysts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452360" y="4864608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33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&amp; Tableau fluency matter as much as programming ability for Analyst hiring — a structurally different profile than Data Scientist/Engineer.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—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KPIs, top hiring states, seniority split &amp; top industries — synced slicers carry across every page</a:t>
            </a:r>
            <a:endParaRPr lang="en-US" sz="1400" dirty="0"/>
          </a:p>
        </p:txBody>
      </p:sp>
      <p:pic>
        <p:nvPicPr>
          <p:cNvPr id="4" name="Image 0" descr="/home/claude/dashboard/dash_01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348" y="1600200"/>
            <a:ext cx="8946825" cy="5029200"/>
          </a:xfrm>
          <a:prstGeom prst="rect">
            <a:avLst/>
          </a:prstGeom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— Roles &amp; Skills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 volume &amp; pay, skill-demand treemap, and the live skills-by-title matrix</a:t>
            </a:r>
            <a:endParaRPr lang="en-US" sz="1400" dirty="0"/>
          </a:p>
        </p:txBody>
      </p:sp>
      <p:pic>
        <p:nvPicPr>
          <p:cNvPr id="4" name="Image 0" descr="/home/claude/dashboard/dash_02_roles_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348" y="1600200"/>
            <a:ext cx="8946825" cy="5029200"/>
          </a:xfrm>
          <a:prstGeom prst="rect">
            <a:avLst/>
          </a:prstGeom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— Geography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states, top companies, min/max salary by state, and hiring distribution across the U.S.</a:t>
            </a:r>
            <a:endParaRPr lang="en-US" sz="1400" dirty="0"/>
          </a:p>
        </p:txBody>
      </p:sp>
      <p:pic>
        <p:nvPicPr>
          <p:cNvPr id="4" name="Image 0" descr="/home/claude/dashboard/dash_03_geogra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059" y="1600200"/>
            <a:ext cx="8973403" cy="5029200"/>
          </a:xfrm>
          <a:prstGeom prst="rect">
            <a:avLst/>
          </a:prstGeom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 — Compensation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by education, seniority, company size &amp; revenue, plus the rating-vs-salary relationship</a:t>
            </a:r>
            <a:endParaRPr lang="en-US" sz="1400" dirty="0"/>
          </a:p>
        </p:txBody>
      </p:sp>
      <p:pic>
        <p:nvPicPr>
          <p:cNvPr id="4" name="Image 0" descr="/home/claude/dashboard/dash_04_compen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570" y="1600200"/>
            <a:ext cx="8960381" cy="5029200"/>
          </a:xfrm>
          <a:prstGeom prst="rect">
            <a:avLst/>
          </a:prstGeom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 |  Job Market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31F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1645920" cy="0"/>
          </a:xfrm>
          <a:prstGeom prst="line">
            <a:avLst/>
          </a:prstGeom>
          <a:noFill/>
          <a:ln w="31750">
            <a:solidFill>
              <a:srgbClr val="E3A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288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U.S. data science job market is geographically concentrated (CA, MA, NY, VA, IL), industry-concentrated (Biotech &amp; Insurance outweigh IT Services), and role-specific in its skill demands. Compensation is driven primarily by job title, industry, location and education — not by company rating or age. These findings give job seekers a prioritization framework and employers a benchmarking framework, both grounded directly in current market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PRDA-04 — Job Market Analysis  |  Prepared by S Suhaiyla Sulthana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1289</Words>
  <Application>Microsoft Office PowerPoint</Application>
  <PresentationFormat>Widescreen</PresentationFormat>
  <Paragraphs>166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PRDA-04: Job Market Analysis</dc:title>
  <dc:subject>PptxGenJS Presentation</dc:subject>
  <dc:creator>Madhusudhan</dc:creator>
  <cp:lastModifiedBy>suhaiyla sulthana</cp:lastModifiedBy>
  <cp:revision>4</cp:revision>
  <dcterms:created xsi:type="dcterms:W3CDTF">2026-06-24T14:46:20Z</dcterms:created>
  <dcterms:modified xsi:type="dcterms:W3CDTF">2026-07-06T14:14:58Z</dcterms:modified>
</cp:coreProperties>
</file>